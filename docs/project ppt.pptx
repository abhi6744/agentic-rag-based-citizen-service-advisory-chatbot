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embeddedFontLst>
    <p:embeddedFont>
      <p:font typeface="Noto Serif Thin"/>
      <p:regular r:id="rId201314"/>
    </p:embeddedFont>
    <p:embeddedFont>
      <p:font typeface="Noto Serif ExtraLight"/>
      <p:regular r:id="rId201315"/>
    </p:embeddedFont>
    <p:embeddedFont>
      <p:font typeface="Noto Serif ExtraBold"/>
      <p:regular r:id="rId201316"/>
    </p:embeddedFont>
    <p:embeddedFont>
      <p:font typeface="Noto Serif Black"/>
      <p:regular r:id="rId201317"/>
    </p:embeddedFont>
    <p:embeddedFont>
      <p:font typeface="Noto Serif Light"/>
      <p:regular r:id="rId201318"/>
    </p:embeddedFont>
    <p:embeddedFont>
      <p:font typeface="Noto Serif"/>
      <p:regular r:id="rId201319"/>
    </p:embeddedFont>
    <p:embeddedFont>
      <p:font typeface="Noto Serif Medium"/>
      <p:regular r:id="rId201320"/>
    </p:embeddedFont>
    <p:embeddedFont>
      <p:font typeface="Noto Serif SemiBold"/>
      <p:regular r:id="rId201321"/>
    </p:embeddedFont>
    <p:embeddedFont>
      <p:font typeface="Noto Serif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35208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Agentic RAG-Based Citizen Service Advisory Chatbot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45065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source-grounded AI assistant for Citizen Service Centres — guiding users on public services, document requirements, identity issues, and next steps.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4290566"/>
            <a:ext cx="301555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4333056"/>
            <a:ext cx="33026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ARTIFICIAL INTELLIGENCE · DIGITAL GOVERNANCE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19199"/>
            <a:ext cx="4722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Problem at Citizen Service Centres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1652885"/>
            <a:ext cx="4722763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Common Service Centres (CSCs) are India's primary G2C access points — yet citizens frequently arrive unprepared, causing repeated visits and inconsistent service.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27015"/>
            <a:ext cx="4722763" cy="8044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5984" y="2580680"/>
            <a:ext cx="433923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Unclear Service Selection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25984" y="2867769"/>
            <a:ext cx="433923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Citizens often don't know which service applies to their situation.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59423"/>
            <a:ext cx="4722763" cy="8044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5984" y="3513088"/>
            <a:ext cx="433923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Missing or Incomplete Documents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25984" y="3800177"/>
            <a:ext cx="433923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Visits fail because required documents are missing or incorrect.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4291831"/>
            <a:ext cx="4722763" cy="10145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5984" y="4445496"/>
            <a:ext cx="433923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Identity Mismatch Confusion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725984" y="4732586"/>
            <a:ext cx="433923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Name spelling differences, surname changes, and Aadhaar inconsistencies leave citizens unsure of next steps.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5434310"/>
            <a:ext cx="4722763" cy="80449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5984" y="5587975"/>
            <a:ext cx="433923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Operator Dependency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725984" y="5875065"/>
            <a:ext cx="433923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Guidance depends on individual memory, leading to inconsistency.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66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This Project Is Needed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2310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CSCs handle high volumes daily. A reliable advisory tool can reduce confusion, improve preparedness, and standardize guidance.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73620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9690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Better Citizen Guidance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0341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Clear, accurate answers before visiting a centre.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736205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319690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Document Readiness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350341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Citizens arrive with the right documents, reducing failed visits.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4240560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470125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Fewer Repeat Visits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500776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Complete information upfront saves time for citizens and operators.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4240560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470125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Consistent Service Support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5007769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citizen receives the same quality of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8790"/>
            <a:ext cx="5177582" cy="29339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24339" y="1211833"/>
            <a:ext cx="1370707" cy="215354"/>
          </a:xfrm>
          <a:prstGeom prst="roundRect">
            <a:avLst>
              <a:gd name="adj" fmla="val 22119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6109395" y="1254323"/>
            <a:ext cx="165779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24339" y="1483891"/>
            <a:ext cx="262823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Agentic RAG-Based Advisory Chatbot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024339" y="3397597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chatbot uses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Retrieval-Augmented Generation (RAG)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it searches trusted sources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before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answering, producing grounded responses with citations.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4823073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481868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Understands the Query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56816" y="512519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service type, eligibility concern, or identity issue.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5564" y="4823073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33130" y="4818683"/>
            <a:ext cx="21384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Retrieves Trusted Sources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733130" y="5346650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Searches official CSC, Aadhaar, and passport documents.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1879" y="4823073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09445" y="4818683"/>
            <a:ext cx="21384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Generates Grounded Answers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509445" y="5346650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Responds with citations — not from memory.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144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Use Cases &amp; Features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31174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Use Cases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692673"/>
            <a:ext cx="1880592" cy="735955"/>
          </a:xfrm>
          <a:prstGeom prst="roundRect">
            <a:avLst>
              <a:gd name="adj" fmla="val 8090"/>
            </a:avLst>
          </a:prstGeom>
          <a:solidFill>
            <a:srgbClr val="2A9D8F">
              <a:alpha val="50000"/>
            </a:srgbClr>
          </a:solidFill>
          <a:ln w="4763">
            <a:solidFill>
              <a:srgbClr val="43B6A8"/>
            </a:solidFill>
            <a:prstDash val="solid"/>
          </a:ln>
          <a:effectLst>
            <a:outerShdw sx="100000" sy="100000" kx="0" ky="0" algn="bl" rotWithShape="0" blurRad="101600" dist="17780" dir="2700000">
              <a:srgbClr val="43b6a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2640" y="2839194"/>
            <a:ext cx="1587550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Aadhaar Update Guidance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18470" y="2692673"/>
            <a:ext cx="1880592" cy="735955"/>
          </a:xfrm>
          <a:prstGeom prst="roundRect">
            <a:avLst>
              <a:gd name="adj" fmla="val 8090"/>
            </a:avLst>
          </a:prstGeom>
          <a:solidFill>
            <a:srgbClr val="2A9D8F">
              <a:alpha val="50000"/>
            </a:srgbClr>
          </a:solidFill>
          <a:ln w="4763">
            <a:solidFill>
              <a:srgbClr val="43B6A8"/>
            </a:solidFill>
            <a:prstDash val="solid"/>
          </a:ln>
          <a:effectLst>
            <a:outerShdw sx="100000" sy="100000" kx="0" ky="0" algn="bl" rotWithShape="0" blurRad="101600" dist="17780" dir="2700000">
              <a:srgbClr val="43b6a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64991" y="2839194"/>
            <a:ext cx="1587550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Passport Support Guidance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3570387"/>
            <a:ext cx="1880592" cy="735955"/>
          </a:xfrm>
          <a:prstGeom prst="roundRect">
            <a:avLst>
              <a:gd name="adj" fmla="val 8090"/>
            </a:avLst>
          </a:prstGeom>
          <a:solidFill>
            <a:srgbClr val="2A9D8F">
              <a:alpha val="50000"/>
            </a:srgbClr>
          </a:solidFill>
          <a:ln w="4763">
            <a:solidFill>
              <a:srgbClr val="43B6A8"/>
            </a:solidFill>
            <a:prstDash val="solid"/>
          </a:ln>
          <a:effectLst>
            <a:outerShdw sx="100000" sy="100000" kx="0" ky="0" algn="bl" rotWithShape="0" blurRad="101600" dist="17780" dir="2700000">
              <a:srgbClr val="43b6a8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640" y="3716908"/>
            <a:ext cx="1587550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Document Checklist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518470" y="3570387"/>
            <a:ext cx="1880592" cy="735955"/>
          </a:xfrm>
          <a:prstGeom prst="roundRect">
            <a:avLst>
              <a:gd name="adj" fmla="val 8090"/>
            </a:avLst>
          </a:prstGeom>
          <a:solidFill>
            <a:srgbClr val="2A9D8F">
              <a:alpha val="50000"/>
            </a:srgbClr>
          </a:solidFill>
          <a:ln w="4763">
            <a:solidFill>
              <a:srgbClr val="43B6A8"/>
            </a:solidFill>
            <a:prstDash val="solid"/>
          </a:ln>
          <a:effectLst>
            <a:outerShdw sx="100000" sy="100000" kx="0" ky="0" algn="bl" rotWithShape="0" blurRad="101600" dist="17780" dir="2700000">
              <a:srgbClr val="43b6a8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64991" y="3716908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Eligibility Support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4448101"/>
            <a:ext cx="1880592" cy="735955"/>
          </a:xfrm>
          <a:prstGeom prst="roundRect">
            <a:avLst>
              <a:gd name="adj" fmla="val 8090"/>
            </a:avLst>
          </a:prstGeom>
          <a:solidFill>
            <a:srgbClr val="2A9D8F">
              <a:alpha val="50000"/>
            </a:srgbClr>
          </a:solidFill>
          <a:ln w="4763">
            <a:solidFill>
              <a:srgbClr val="43B6A8"/>
            </a:solidFill>
            <a:prstDash val="solid"/>
          </a:ln>
          <a:effectLst>
            <a:outerShdw sx="100000" sy="100000" kx="0" ky="0" algn="bl" rotWithShape="0" blurRad="101600" dist="17780" dir="2700000">
              <a:srgbClr val="43b6a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640" y="4594622"/>
            <a:ext cx="1587550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Service Selection Help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518470" y="4448101"/>
            <a:ext cx="1880592" cy="735955"/>
          </a:xfrm>
          <a:prstGeom prst="roundRect">
            <a:avLst>
              <a:gd name="adj" fmla="val 8090"/>
            </a:avLst>
          </a:prstGeom>
          <a:solidFill>
            <a:srgbClr val="2A9D8F">
              <a:alpha val="50000"/>
            </a:srgbClr>
          </a:solidFill>
          <a:ln w="4763">
            <a:solidFill>
              <a:srgbClr val="43B6A8"/>
            </a:solidFill>
            <a:prstDash val="solid"/>
          </a:ln>
          <a:effectLst>
            <a:outerShdw sx="100000" sy="100000" kx="0" ky="0" algn="bl" rotWithShape="0" blurRad="101600" dist="17780" dir="2700000">
              <a:srgbClr val="43b6a8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64991" y="4594622"/>
            <a:ext cx="1587550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Identity Mismatch Guidance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49701" y="231174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Features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49701" y="2674962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Source-Grounded Answers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Every response cites official sources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Low-Confidence Warning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Alerts when source support is weak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Next-Step Recommendations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Clear actionable guidance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Operator Support Mode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Assists CSC operators with structured summaries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14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Agentic RAG — Not a Basic Chatbot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0797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standard LLM answers from memory. 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Agentic RAG system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reasons, retrieves, verifies, and improves — reducing hallucination and building trust.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521074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F2EDE5"/>
          </a:solidFill>
          <a:ln w="4763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17780" dir="2700000">
              <a:srgbClr val="2a9d8f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2640" y="2667595"/>
            <a:ext cx="425276" cy="42527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784500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323463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Understands Intent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3541142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Classifies query type before searching.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2521074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F2EDE5"/>
          </a:solidFill>
          <a:ln w="4763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17780" dir="2700000">
              <a:srgbClr val="2a9d8f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89363" y="2667595"/>
            <a:ext cx="425276" cy="42527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2784500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9363" y="323463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Searches Trusted Sources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89363" y="3541142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Retrieves from official documents, not training memory.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6119" y="4283050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F2EDE5"/>
          </a:solidFill>
          <a:ln w="4763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17780" dir="2700000">
              <a:srgbClr val="2a9d8f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640" y="4429571"/>
            <a:ext cx="425276" cy="42527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4546476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640" y="4996607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Retries if Needed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640" y="530311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Reformulates the query when initial results are weak.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42842" y="4283050"/>
            <a:ext cx="4005039" cy="1393403"/>
          </a:xfrm>
          <a:prstGeom prst="roundRect">
            <a:avLst>
              <a:gd name="adj" fmla="val 4273"/>
            </a:avLst>
          </a:prstGeom>
          <a:solidFill>
            <a:srgbClr val="F2EDE5"/>
          </a:solidFill>
          <a:ln w="4763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17780" dir="2700000">
              <a:srgbClr val="2a9d8f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89363" y="4429571"/>
            <a:ext cx="425276" cy="42527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6342" y="4546476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9363" y="4996607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Verifies Citations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89363" y="530311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Confirms the answer is supported before responding.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842"/>
            <a:ext cx="8151763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Workflow &amp; Architecture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8196" y="859557"/>
            <a:ext cx="3967609" cy="25793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56094" y="2257848"/>
            <a:ext cx="1192177" cy="149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Query &amp; Intent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289355" y="1415045"/>
            <a:ext cx="985532" cy="29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Retrieval &amp; Rewrite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44442" y="2172739"/>
            <a:ext cx="890158" cy="29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Rerank &amp; Generate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374132" y="2686700"/>
            <a:ext cx="837173" cy="29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Citation Check &amp; Reply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3506242"/>
            <a:ext cx="86089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agentic pipeline handles each query through intent analysis, adaptive retrieval, and citation-verified generation.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96119" y="4479875"/>
            <a:ext cx="396351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System Components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6119" y="4683696"/>
            <a:ext cx="3963516" cy="97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Interface</a:t>
            </a:r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Streamlit / React frontend</a:t>
            </a:r>
            <a:endParaRPr lang="en-US" sz="700" dirty="0"/>
          </a:p>
          <a:p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API</a:t>
            </a:r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FastAPI / Flask server</a:t>
            </a:r>
            <a:endParaRPr lang="en-US" sz="700" dirty="0"/>
          </a:p>
          <a:p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Base</a:t>
            </a:r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Curated CSC and government documents</a:t>
            </a:r>
            <a:endParaRPr lang="en-US" sz="700" dirty="0"/>
          </a:p>
          <a:p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Vector Database</a:t>
            </a:r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FAISS / Chroma for semantic search</a:t>
            </a:r>
            <a:endParaRPr lang="en-US" sz="700" dirty="0"/>
          </a:p>
          <a:p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LLM Layer</a:t>
            </a:r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LangChain / LlamaIndex orchestration</a:t>
            </a:r>
            <a:endParaRPr lang="en-US" sz="700" dirty="0"/>
          </a:p>
          <a:p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Citation Verification</a:t>
            </a:r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Source-grounding check</a:t>
            </a:r>
            <a:endParaRPr lang="en-US" sz="700" dirty="0"/>
          </a:p>
          <a:p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Feedback &amp; Logging</a:t>
            </a:r>
            <a:pPr algn="l" marL="142240" indent="-14224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Query tracking and improvement</a:t>
            </a:r>
            <a:endParaRPr lang="en-US" sz="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128" y="3769147"/>
            <a:ext cx="2576215" cy="2576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50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Sources &amp; Tech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0238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Trusted Data Sources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765599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CSC / Common Service Centre service catalogs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UIDAI Aadhaar service information and FAQs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Passport Seva guidance documents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Official government service lists and portals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Public service FAQs and eligibility criteria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40238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765599"/>
            <a:ext cx="3902943" cy="2437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Language: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Python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FastAPI / Flask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Streamlit / React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Framework: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LangChain / LlamaIndex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Vector Store: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FAISS / Chroma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Embedding Model: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Sentence Transformers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LLM: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OpenAI API / Local LLM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Database: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SQLite / PostgreSQL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Version Control: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GitHub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423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Expected Benefits, Scope &amp; Limitations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63969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Expected Benefits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3002905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Better Citizen Preparedness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Citizens arrive informed and document-ready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Faster Support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Operators spend less time on basic queries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Fewer Repeat Visits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Accurate guidance reduces failed attempts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Consistent Guidance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Standardized responses across all operators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63969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Scope &amp; Limitations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3002905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Prototype covering selected service categories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Advisory only — no official approvals issued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biometric or identity verification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Quality depends on source document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67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Roadmap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3436962"/>
            <a:ext cx="8151763" cy="19050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4" name="Shape 2"/>
          <p:cNvSpPr/>
          <p:nvPr/>
        </p:nvSpPr>
        <p:spPr>
          <a:xfrm>
            <a:off x="1323380" y="3153445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5" name="Shape 3"/>
          <p:cNvSpPr/>
          <p:nvPr/>
        </p:nvSpPr>
        <p:spPr>
          <a:xfrm>
            <a:off x="1279773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1803276"/>
            <a:ext cx="1390129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Requirement Study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331244"/>
            <a:ext cx="13901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Define scope and service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8793" y="3436962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9" name="Shape 7"/>
          <p:cNvSpPr/>
          <p:nvPr/>
        </p:nvSpPr>
        <p:spPr>
          <a:xfrm>
            <a:off x="2205186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563291" y="3862239"/>
            <a:ext cx="13901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63291" y="4168750"/>
            <a:ext cx="13901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Gather official CSC and government documents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4281" y="3153445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13" name="Shape 11"/>
          <p:cNvSpPr/>
          <p:nvPr/>
        </p:nvSpPr>
        <p:spPr>
          <a:xfrm>
            <a:off x="3130674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488704" y="1803276"/>
            <a:ext cx="1390204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Service Categorization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88704" y="2331244"/>
            <a:ext cx="139020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Structure knowledge base by service 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99694" y="3436962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6087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3414117" y="3862239"/>
            <a:ext cx="13902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RAG Pipeline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14117" y="4168750"/>
            <a:ext cx="139020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 embedding, retrieval, and generation layers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5107" y="3153445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1501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4339605" y="1803276"/>
            <a:ext cx="13901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Agentic Logic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39605" y="2109788"/>
            <a:ext cx="13901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query rewrite, retry, and citation checks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50595" y="3436962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25" name="Shape 23"/>
          <p:cNvSpPr/>
          <p:nvPr/>
        </p:nvSpPr>
        <p:spPr>
          <a:xfrm>
            <a:off x="5906988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5265018" y="3862239"/>
            <a:ext cx="13902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UI Development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65018" y="4168750"/>
            <a:ext cx="13902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 citizen and operator interfaces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76008" y="3153445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29" name="Shape 27"/>
          <p:cNvSpPr/>
          <p:nvPr/>
        </p:nvSpPr>
        <p:spPr>
          <a:xfrm>
            <a:off x="6832402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6190431" y="1803276"/>
            <a:ext cx="13902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Testing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190431" y="2109788"/>
            <a:ext cx="139020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Validate accuracy, grounding, and edge cases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01421" y="3436962"/>
            <a:ext cx="19050" cy="283518"/>
          </a:xfrm>
          <a:prstGeom prst="roundRect">
            <a:avLst>
              <a:gd name="adj" fmla="val 312558"/>
            </a:avLst>
          </a:prstGeom>
          <a:solidFill>
            <a:srgbClr val="43B6A8"/>
          </a:solidFill>
          <a:ln/>
        </p:spPr>
      </p:sp>
      <p:sp>
        <p:nvSpPr>
          <p:cNvPr id="33" name="Shape 31"/>
          <p:cNvSpPr/>
          <p:nvPr/>
        </p:nvSpPr>
        <p:spPr>
          <a:xfrm>
            <a:off x="7757815" y="3383831"/>
            <a:ext cx="106263" cy="106263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4" name="Text 32"/>
          <p:cNvSpPr/>
          <p:nvPr/>
        </p:nvSpPr>
        <p:spPr>
          <a:xfrm>
            <a:off x="7115919" y="3862239"/>
            <a:ext cx="13901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Final Demo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15919" y="4168750"/>
            <a:ext cx="13901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Present working prototype with documentation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720" y="5168131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project combines AI, grounded information retrieval, and public-service support to create a practical and technically strong advisory system for citizen service environments.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6119" y="5008662"/>
            <a:ext cx="19050" cy="772567"/>
          </a:xfrm>
          <a:prstGeom prst="roundRect">
            <a:avLst>
              <a:gd name="adj" fmla="val 60000"/>
            </a:avLst>
          </a:prstGeom>
          <a:solidFill>
            <a:srgbClr val="9C928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2026-07-26T19:55:10Z</dcterms:created>
  <dcterms:modified xsi:type="dcterms:W3CDTF">2026-07-26T19:55:10Z</dcterms:modified>
</cp:coreProperties>
</file>